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 snapToObjects="1">
      <p:cViewPr varScale="1">
        <p:scale>
          <a:sx n="114" d="100"/>
          <a:sy n="114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8225" y="2129730"/>
            <a:ext cx="8357138" cy="167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sz="6000" b="0" i="0" u="none">
                <a:solidFill>
                  <a:srgbClr val="000000"/>
                </a:solidFill>
                <a:latin typeface="Inter ExtraBold"/>
              </a:rPr>
              <a:t>AI LAB:</a:t>
            </a:r>
            <a:r>
              <a:t>
</a:t>
            </a:r>
            <a:r>
              <a:rPr sz="6000" b="0" i="0" u="none">
                <a:solidFill>
                  <a:srgbClr val="000000"/>
                </a:solidFill>
                <a:latin typeface="Inter ExtraBold"/>
              </a:rPr>
              <a:t> 12-MONTH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8225" y="4034730"/>
            <a:ext cx="7959179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0000"/>
                </a:solidFill>
                <a:latin typeface="Inter Light"/>
              </a:rPr>
              <a:t>A Blueprint for Scalable, Cost-Effective Enterprise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95475"/>
            <a:ext cx="5229225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6775" y="1895475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00000"/>
                </a:solidFill>
                <a:latin typeface="Inter ExtraBold"/>
              </a:rPr>
              <a:t>Democratized Research: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Provide every employee an intuitive, friendly environment to research and innovate without technical barriers.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775" y="3038475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00000"/>
                </a:solidFill>
                <a:latin typeface="Inter ExtraBold"/>
              </a:rPr>
              <a:t>Zero Token Anxiety: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Completely eradicate the fear of unpredictable, skyrocketing public API costs during experimentation.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181475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00000"/>
                </a:solidFill>
                <a:latin typeface="Inter ExtraBold"/>
              </a:rPr>
              <a:t>Cost-Optimized Setup: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Require minimal upfront investment by leveraging strategic hardware, controlling our operational footprint.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5324475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00000"/>
                </a:solidFill>
                <a:latin typeface="Inter ExtraBold"/>
              </a:rPr>
              <a:t>Limitless Exploration: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Foster a dynamic culture where trial and error is encouraged, not penalized by a billing meter.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14525"/>
            <a:ext cx="5191125" cy="396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189547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03847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18147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32447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u="none">
                <a:solidFill>
                  <a:srgbClr val="000000"/>
                </a:solidFill>
                <a:latin typeface="Inter ExtraBold"/>
              </a:rPr>
              <a:t>Vision — Cost-Effective AI Infrastructure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985962"/>
            <a:ext cx="3486150" cy="4200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1985962"/>
            <a:ext cx="3486150" cy="420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1985962"/>
            <a:ext cx="3486150" cy="4200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100387"/>
            <a:ext cx="199274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Local GPU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767137"/>
            <a:ext cx="28765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Build the foundation on highly efficient, local hardware to seamlessly handle 80% of daily, steady-state AI research traffic at zero marginal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7725" y="3100387"/>
            <a:ext cx="196274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Cloud Bursting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7725" y="3767137"/>
            <a:ext cx="287655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Intelligently route overflow traffic or extremely complex model requests to public cloud environments only when strictly necessary, optimizing spend.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9625" y="3100387"/>
            <a:ext cx="20011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Smart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9625" y="3767137"/>
            <a:ext cx="28765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Deploy an intelligent routing layer that sits directly between the user and the models, automatically choosing the most efficient processing path.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424112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2424112"/>
            <a:ext cx="50482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2424112"/>
            <a:ext cx="504825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u="none">
                <a:solidFill>
                  <a:srgbClr val="000000"/>
                </a:solidFill>
                <a:latin typeface="Inter ExtraBold"/>
              </a:rPr>
              <a:t>Architecture — Local GPU + Cloud Bursting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543175"/>
            <a:ext cx="5229225" cy="400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543175"/>
            <a:ext cx="522922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1075" y="2943225"/>
            <a:ext cx="465058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Core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075" y="33813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1800" y="2943225"/>
            <a:ext cx="465058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Business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1800" y="33813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66825" y="36290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Procure and stand up the initial physical hardware (local GPU instances).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" y="44672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Deploy open-source, high-efficiency base models (e.g., Llama, Mistral).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" y="53054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Implement a user-friendly Chat UI for 15-20 early internal adopters.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550" y="36290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Demonstrate immediate AI capabilities without triggering cloud billing.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7550" y="44672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Establish a secure, private sandbox for employees to experiment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7550" y="53054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Validate the hardware-to-user ratio and establish baseline performance.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36290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4672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53054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36290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44672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53054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u="none">
                <a:solidFill>
                  <a:srgbClr val="000000"/>
                </a:solidFill>
                <a:latin typeface="Inter ExtraBold"/>
              </a:rPr>
              <a:t>MVP 1 | Months 1–3 — Foundation &amp; Shared GPUs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20288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5190648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u="none">
                <a:solidFill>
                  <a:srgbClr val="000000"/>
                </a:solidFill>
                <a:latin typeface="Inter ExtraBold"/>
              </a:rPr>
              <a:t>MVP 1 — 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025" y="2028825"/>
            <a:ext cx="494347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9525"/>
            <a:ext cx="60674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543175"/>
            <a:ext cx="519064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The Local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2943225"/>
            <a:ext cx="49434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3295650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3333"/>
                </a:solidFill>
                <a:latin typeface="Inter"/>
              </a:rPr>
              <a:t>Hardware: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Utilizing repurposed existing servers or a dedicated high-tier workstation to form the core compute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629150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3333"/>
                </a:solidFill>
                <a:latin typeface="Inter"/>
              </a:rPr>
              <a:t>Serving: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Implementing highly optimized inference frameworks for maximum local throughput with minimal latency.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962650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3333"/>
                </a:solidFill>
                <a:latin typeface="Inter"/>
              </a:rPr>
              <a:t>UI: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A centralized, user-friendly web portal ensures no technical expertise is required to begin researching.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085975"/>
            <a:ext cx="5229225" cy="400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085975"/>
            <a:ext cx="522922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1075" y="2486025"/>
            <a:ext cx="465058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Intelligent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075" y="29241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1800" y="2486025"/>
            <a:ext cx="465058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Enhanced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1800" y="29241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66825" y="31718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Introduce a smart routing gateway to manage all incoming prompts.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" y="40100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Establish strict rules: standard queries stay local; heavy queries burst to cloud.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" y="48482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Monitor usage patterns to ensure cloud spend remains strictly capped.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550" y="31718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Integrate Private RAG so users can securely chat with internal documents.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7550" y="40100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Expand the pilot user base to wider departments based on early success.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7550" y="48482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Refine the user experience based on direct feedback from adopters.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31718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0100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48482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31718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40100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48482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u="none">
                <a:solidFill>
                  <a:srgbClr val="000000"/>
                </a:solidFill>
                <a:latin typeface="Inter ExtraBold"/>
              </a:rPr>
              <a:t>MVP 2 | Months 4–6 — Routing &amp; Bursting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085975"/>
            <a:ext cx="5229225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6775" y="208597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00000"/>
                </a:solidFill>
                <a:latin typeface="Inter ExtraBold"/>
              </a:rPr>
              <a:t>User Prompt: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An employee submits a research query via the friendly, unified lab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775" y="292417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00000"/>
                </a:solidFill>
                <a:latin typeface="Inter ExtraBold"/>
              </a:rPr>
              <a:t>The Gateway: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Our smart routing layer analyzes the request's complexity and current local server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76237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00000"/>
                </a:solidFill>
                <a:latin typeface="Inter ExtraBold"/>
              </a:rPr>
              <a:t>Local Priority: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By default, the query is processed on local GPUs, incurring zero marginal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460057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00000"/>
                </a:solidFill>
                <a:latin typeface="Inter ExtraBold"/>
              </a:rPr>
              <a:t>Cloud Fallback: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If local servers are at maximum capacity, the request securely "bursts" to the cloud.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5025"/>
            <a:ext cx="5191125" cy="396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08597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92417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76237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60057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u="none">
                <a:solidFill>
                  <a:srgbClr val="000000"/>
                </a:solidFill>
                <a:latin typeface="Inter ExtraBold"/>
              </a:rPr>
              <a:t>MVP 2 — Intelligent Request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543175"/>
            <a:ext cx="3486150" cy="38957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2543175"/>
            <a:ext cx="3486150" cy="3895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2543175"/>
            <a:ext cx="3486150" cy="3895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657600"/>
            <a:ext cx="191117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Multi-Tenancy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4324350"/>
            <a:ext cx="28765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Isolate environments so different departments (HR, Engineering, Sales) have dedicated, secure workspaces tailored to their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7725" y="3657600"/>
            <a:ext cx="18942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AI as a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7725" y="4324350"/>
            <a:ext cx="28765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Expose internal APIs, empowering developers to easily integrate local AI features directly into proprietary company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9625" y="3657600"/>
            <a:ext cx="274081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Analytics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9625" y="4324350"/>
            <a:ext cx="28765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Track precise usage metrics, calculate exact cost-savings vs. cloud, and present crystal-clear ROI data to leadership.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981325"/>
            <a:ext cx="504825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2981325"/>
            <a:ext cx="30480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2981325"/>
            <a:ext cx="447675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581025"/>
            <a:ext cx="11581447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u="none">
                <a:solidFill>
                  <a:srgbClr val="000000"/>
                </a:solidFill>
                <a:latin typeface="Inter ExtraBold"/>
              </a:rPr>
              <a:t>MVP 3 | Months 7–9 — AIaaS &amp; Multi-Tenancy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20288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5190648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u="none">
                <a:solidFill>
                  <a:srgbClr val="000000"/>
                </a:solidFill>
                <a:latin typeface="Inter ExtraBold"/>
              </a:rPr>
              <a:t>MVP 3 — Developer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025" y="2028825"/>
            <a:ext cx="494347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9525"/>
            <a:ext cx="60674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543175"/>
            <a:ext cx="519064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Empowering Builders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2943225"/>
            <a:ext cx="49434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3295650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3333"/>
                </a:solidFill>
                <a:latin typeface="Inter"/>
              </a:rPr>
              <a:t>Platform Shift: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Transitioning from a simple chat interface to a robust API platform tailored for internal engineers.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629150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3333"/>
                </a:solidFill>
                <a:latin typeface="Inter"/>
              </a:rPr>
              <a:t>Automation: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Developers can programmatically access local models to automate workflows, summarize tickets, and write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962650"/>
            <a:ext cx="4943475" cy="895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3333"/>
                </a:solidFill>
                <a:latin typeface="Inter"/>
              </a:rPr>
              <a:t>Cost-Free Testing:</a:t>
            </a:r>
            <a:r>
              <a:rPr sz="1500" b="0" i="0" u="none">
                <a:solidFill>
                  <a:srgbClr val="333333"/>
                </a:solidFill>
                <a:latin typeface="Inter"/>
              </a:rPr>
              <a:t> Local innovation cycles allow teams to run thousands of API calls during development without cloud charges.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543175"/>
            <a:ext cx="5229225" cy="400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543175"/>
            <a:ext cx="522922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1075" y="2943225"/>
            <a:ext cx="465058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Advanced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075" y="33813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1800" y="2943225"/>
            <a:ext cx="465058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0000"/>
                </a:solidFill>
                <a:latin typeface="Inter ExtraBold"/>
              </a:rPr>
              <a:t>Enterprise Rollout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1800" y="33813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66825" y="36290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Implement Parameter-Efficient Fine-Tuning (LoRA) for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" y="44672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Train open models specifically on our proprietary data and jargon.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" y="53054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Deploy highly specialized "Agent" models for specific business tasks.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550" y="36290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Open the Innovation Lab to the entire organization for full access.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7550" y="44672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Host an internal AI Hackathon to drive adoption and new use 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7550" y="5305425"/>
            <a:ext cx="4143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Inter"/>
              </a:rPr>
              <a:t>Finalize the scalable architecture blueprint for Year 2 expansion.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36290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4672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53054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36290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44672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53054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u="none">
                <a:solidFill>
                  <a:srgbClr val="000000"/>
                </a:solidFill>
                <a:latin typeface="Inter ExtraBold"/>
              </a:rPr>
              <a:t>MVP 4 | Months 10–12 — Specialized Workloads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20288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4657725"/>
            <a:ext cx="2536775" cy="126474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033" y="2630983"/>
            <a:ext cx="2536775" cy="12647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042" y="4657725"/>
            <a:ext cx="2536775" cy="12647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050" y="2630983"/>
            <a:ext cx="2536775" cy="12647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1025" y="425767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7639" y="4914900"/>
            <a:ext cx="212354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Inter ExtraBold"/>
              </a:rPr>
              <a:t>MVP 1 (M 1-3)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238750"/>
            <a:ext cx="20224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333333"/>
                </a:solidFill>
                <a:latin typeface="Inter"/>
              </a:rPr>
              <a:t>Foundation &amp; GPUs. Local models and UI deployed.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8647" y="2888158"/>
            <a:ext cx="212354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Inter ExtraBold"/>
              </a:rPr>
              <a:t>MVP 2 (M 4-6)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9208" y="3212008"/>
            <a:ext cx="20224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333333"/>
                </a:solidFill>
                <a:latin typeface="Inter"/>
              </a:rPr>
              <a:t>Dynamic Routing. Request flow and RAG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9656" y="4914900"/>
            <a:ext cx="212354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Inter ExtraBold"/>
              </a:rPr>
              <a:t>MVP 3 (M 7-9)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217" y="5238750"/>
            <a:ext cx="20224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333333"/>
                </a:solidFill>
                <a:latin typeface="Inter"/>
              </a:rPr>
              <a:t>AIaaS &amp; Tenants. Dev Platform and secure silos.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0665" y="2888158"/>
            <a:ext cx="212354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Inter ExtraBold"/>
              </a:rPr>
              <a:t>MVP 4 (M 10-12)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1225" y="3212008"/>
            <a:ext cx="20224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333333"/>
                </a:solidFill>
                <a:latin typeface="Inter"/>
              </a:rPr>
              <a:t>Scale &amp; Rollout. Fine-tuning and full enterprise access.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5112" y="4162425"/>
            <a:ext cx="228600" cy="228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66121" y="4162425"/>
            <a:ext cx="228600" cy="228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97129" y="4162425"/>
            <a:ext cx="228600" cy="228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228138" y="4162425"/>
            <a:ext cx="228600" cy="228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u="none">
                <a:solidFill>
                  <a:srgbClr val="000000"/>
                </a:solidFill>
                <a:latin typeface="Inter ExtraBold"/>
              </a:rPr>
              <a:t>12-Month Timeline — Month 1 → Month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804</Words>
  <Application>Microsoft Macintosh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Inter</vt:lpstr>
      <vt:lpstr>Inter ExtraBold</vt:lpstr>
      <vt:lpstr>Inter Light</vt:lpstr>
      <vt:lpstr>sans-serif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Subhojit Ghosh</cp:lastModifiedBy>
  <cp:revision>2</cp:revision>
  <dcterms:created xsi:type="dcterms:W3CDTF">2013-01-27T09:14:16Z</dcterms:created>
  <dcterms:modified xsi:type="dcterms:W3CDTF">2026-09-16T17:14:03Z</dcterms:modified>
  <cp:category/>
</cp:coreProperties>
</file>