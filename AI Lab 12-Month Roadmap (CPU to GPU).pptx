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8225" y="2129730"/>
            <a:ext cx="8357138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b="0" sz="6000" i="0" u="none">
                <a:solidFill>
                  <a:srgbClr val="000000"/>
                </a:solidFill>
                <a:latin typeface="Inter ExtraBold"/>
              </a:rPr>
              <a:t>AI LAB:</a:t>
            </a:r>
            <a:r>
              <a:t>
</a:t>
            </a:r>
            <a:r>
              <a:rPr b="0" sz="6000" i="0" u="none">
                <a:solidFill>
                  <a:srgbClr val="000000"/>
                </a:solidFill>
                <a:latin typeface="Inter ExtraBold"/>
              </a:rPr>
              <a:t> 12-MONTH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8225" y="4034730"/>
            <a:ext cx="7959179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b="0" sz="2100" i="0" u="none">
                <a:solidFill>
                  <a:srgbClr val="000000"/>
                </a:solidFill>
                <a:latin typeface="Inter Light"/>
              </a:rPr>
              <a:t>A Blueprint for Scalable, Cost-Effective Enterprise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895475"/>
            <a:ext cx="5229225" cy="4000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6775" y="1895475"/>
            <a:ext cx="49434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Democratized Research: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Empower employees to research and prototype with zero per-token cost barriers.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775" y="3038475"/>
            <a:ext cx="49434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Risk-Free Infrastructure: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Utilize existing idle enterprise CPU infrastructure before requesting any CapEx for specialized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4181475"/>
            <a:ext cx="49434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Cost-Optimized Setup: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Phase in advanced computing strictly based on proven demand and measured ROI.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5324475"/>
            <a:ext cx="49434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Strategic Evolution: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Begin fully local on CPUs, burst to cloud only when necessary, and eventually procure targeted GPUs.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14525"/>
            <a:ext cx="5191125" cy="396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189547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03847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418147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532447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4200" i="0" u="none">
                <a:solidFill>
                  <a:srgbClr val="000000"/>
                </a:solidFill>
                <a:latin typeface="Inter ExtraBold"/>
              </a:rPr>
              <a:t>Vision — Cost-Effective AI Infrastructure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138112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138362"/>
            <a:ext cx="3486150" cy="38957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925" y="2138362"/>
            <a:ext cx="3486150" cy="3895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825" y="2138362"/>
            <a:ext cx="3486150" cy="3895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3252787"/>
            <a:ext cx="224590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0000"/>
                </a:solidFill>
                <a:latin typeface="Inter ExtraBold"/>
              </a:rPr>
              <a:t>The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919537"/>
            <a:ext cx="2876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Inter"/>
              </a:rPr>
              <a:t>Repurpose existing office servers, virtual machines, or idle developer desktops to establish the initial computing foundation.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7725" y="3252787"/>
            <a:ext cx="1476278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0000"/>
                </a:solidFill>
                <a:latin typeface="Inter ExtraBold"/>
              </a:rPr>
              <a:t>The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7725" y="3919537"/>
            <a:ext cx="2876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Inter"/>
              </a:rPr>
              <a:t>Deploy highly optimized, quantized open-weight Small Language Models (SLMs) that run efficiently on standard CPU RAM using Ollama.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9625" y="3252787"/>
            <a:ext cx="180116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0000"/>
                </a:solidFill>
                <a:latin typeface="Inter ExtraBold"/>
              </a:rPr>
              <a:t>The Evolution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9625" y="3919537"/>
            <a:ext cx="2876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Inter"/>
              </a:rPr>
              <a:t>Begin with a 100% CPU-based local deployment. Introduce dynamic cloud bursting later, followed by a targeted local GPU procurement.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576512"/>
            <a:ext cx="40005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7725" y="2576512"/>
            <a:ext cx="400050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625" y="2576512"/>
            <a:ext cx="352425" cy="4000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4200" i="0" u="none">
                <a:solidFill>
                  <a:srgbClr val="000000"/>
                </a:solidFill>
                <a:latin typeface="Inter ExtraBold"/>
              </a:rPr>
              <a:t>Architecture — Local CPU + Cloud Bursting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38112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543175"/>
            <a:ext cx="5229225" cy="4610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543175"/>
            <a:ext cx="5229225" cy="4610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1075" y="2943225"/>
            <a:ext cx="465058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0000"/>
                </a:solidFill>
                <a:latin typeface="Inter ExtraBold"/>
              </a:rPr>
              <a:t>Infrastructure &amp;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075" y="3381375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81800" y="2943225"/>
            <a:ext cx="465058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0000"/>
                </a:solidFill>
                <a:latin typeface="Inter ExtraBold"/>
              </a:rPr>
              <a:t>Software &amp; Access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1800" y="3381375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6825" y="3629025"/>
            <a:ext cx="4143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Infrastructure: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Provision 1–2 existing virtual machines (VMs) or bare-metal CPU servers with high RAM (32GB+).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825" y="4772025"/>
            <a:ext cx="4143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Cost Goal: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Maintain a strict $0 Capital Expenditure (CapEx).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6825" y="5610225"/>
            <a:ext cx="4143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Objective: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Prove internal demand and establish a secure, private sandbox without requesting a new hardware budget.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7550" y="3629025"/>
            <a:ext cx="4143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Software Stack: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Install Ollama with Open WebUI. Serve quantized (4-bit) models like Llama 3 8B or Mistral 7B.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7550" y="4772025"/>
            <a:ext cx="4143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Access: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Onboard 15–20 internal champions for initial usage.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7550" y="5610225"/>
            <a:ext cx="4143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Focus: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Text summarization, brainstorming, and internal drafting where CPU-speed inference is sufficient.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362902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477202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561022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362902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477202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561022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581025"/>
            <a:ext cx="11581447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4200" i="0" u="none">
                <a:solidFill>
                  <a:srgbClr val="000000"/>
                </a:solidFill>
                <a:latin typeface="Inter ExtraBold"/>
              </a:rPr>
              <a:t>MVP 1 | Months 1–3 — Foundation (Zero GPU)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" y="202882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1025" y="581025"/>
            <a:ext cx="5190648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4200" i="0" u="none">
                <a:solidFill>
                  <a:srgbClr val="000000"/>
                </a:solidFill>
                <a:latin typeface="Inter ExtraBold"/>
              </a:rPr>
              <a:t>MVP 1 — 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1025" y="2028825"/>
            <a:ext cx="494347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0" y="9525"/>
            <a:ext cx="606742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543175"/>
            <a:ext cx="519064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0000"/>
                </a:solidFill>
                <a:latin typeface="Inter ExtraBold"/>
              </a:rPr>
              <a:t>The Local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2943225"/>
            <a:ext cx="494347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1025" y="3295650"/>
            <a:ext cx="49434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3333"/>
                </a:solidFill>
                <a:latin typeface="Inter"/>
              </a:rPr>
              <a:t>Hardware: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Utilizing repurposed existing VM servers to form the core compute layer, ensuring zero initial procurement delay.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629150"/>
            <a:ext cx="49434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3333"/>
                </a:solidFill>
                <a:latin typeface="Inter"/>
              </a:rPr>
              <a:t>Serving: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Implementing highly optimized CPU inference frameworks (llama.cpp) for maximum local throughput.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962650"/>
            <a:ext cx="4943475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3333"/>
                </a:solidFill>
                <a:latin typeface="Inter"/>
              </a:rPr>
              <a:t>UI: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A centralized, user-friendly web portal ensures no technical expertise is required for employees to begin researching.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895475"/>
            <a:ext cx="5229225" cy="4914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895475"/>
            <a:ext cx="5229225" cy="4914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1075" y="2295525"/>
            <a:ext cx="465058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0000"/>
                </a:solidFill>
                <a:latin typeface="Inter ExtraBold"/>
              </a:rPr>
              <a:t>Intelligent 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075" y="2733675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81800" y="2295525"/>
            <a:ext cx="465058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0000"/>
                </a:solidFill>
                <a:latin typeface="Inter ExtraBold"/>
              </a:rPr>
              <a:t>The Logic &amp; Milestone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1800" y="2733675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6825" y="2981325"/>
            <a:ext cx="4143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Challenge: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As adoption grows, certain heavy tasks (e.g., massive code generation) will exceed CPU inference limits.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825" y="4124325"/>
            <a:ext cx="4143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Solution: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Introduce a smart gateway (e.g., LiteLLM) to intelligently manage costs and route traffic.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6825" y="5267325"/>
            <a:ext cx="4143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Budget: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Utilize a strict, pre-approved monthly budget for necessary cloud overflow.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7550" y="2981325"/>
            <a:ext cx="4143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The Logic: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Standard queries stay on free, local CPUs. Advanced reasoning requests "burst" to an external cloud API.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7550" y="4124325"/>
            <a:ext cx="4143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Milestone: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Demonstrate to leadership that 80% of queries are handled for free locally.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7550" y="4962525"/>
            <a:ext cx="4143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Value: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Prove significant cost savings in API fees while only 20% require paid cloud routing.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298132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412432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526732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298132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412432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496252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4200" i="0" u="none">
                <a:solidFill>
                  <a:srgbClr val="000000"/>
                </a:solidFill>
                <a:latin typeface="Inter ExtraBold"/>
              </a:rPr>
              <a:t>MVP 2 | Months 4–6 — Dynamic Routing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" y="138112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085975"/>
            <a:ext cx="5229225" cy="4000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6775" y="2085975"/>
            <a:ext cx="49434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User Prompt: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Employee submits a query via the unified interface.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6775" y="2924175"/>
            <a:ext cx="49434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The Gateway: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LiteLLM proxy analyzes the request's complexity.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3762375"/>
            <a:ext cx="49434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Local Priority (80%):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Standard tasks are routed to local CPU models (Llama 3 8B), incurring zero marginal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4905375"/>
            <a:ext cx="49434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Cloud Bursting (20%):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Highly complex reasoning tasks securely bypass local servers to query a managed cloud API within strict budget limits.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05025"/>
            <a:ext cx="5191125" cy="396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208597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292417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76237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90537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4200" i="0" u="none">
                <a:solidFill>
                  <a:srgbClr val="000000"/>
                </a:solidFill>
                <a:latin typeface="Inter ExtraBold"/>
              </a:rPr>
              <a:t>MVP 2 — Intelligent Request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138112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976437"/>
            <a:ext cx="3486150" cy="42195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925" y="1976437"/>
            <a:ext cx="3486150" cy="4219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825" y="1976437"/>
            <a:ext cx="3486150" cy="4219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3090862"/>
            <a:ext cx="3020377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0000"/>
                </a:solidFill>
                <a:latin typeface="Inter ExtraBold"/>
              </a:rPr>
              <a:t>Hardware Procurement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4081462"/>
            <a:ext cx="2876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Inter"/>
              </a:rPr>
              <a:t>Armed with 6 months of ROI data, purchase a mid-range, multi-GPU workstation to pull the remaining 20% of workloads entirely in-house.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7725" y="3090862"/>
            <a:ext cx="250921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0000"/>
                </a:solidFill>
                <a:latin typeface="Inter ExtraBold"/>
              </a:rPr>
              <a:t>Developer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7725" y="3757612"/>
            <a:ext cx="2876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Inter"/>
              </a:rPr>
              <a:t>Introduce AI-as-a-Service (AIaaS). Provide API endpoints (vLLM) so internal engineers can build models directly into company applications.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9625" y="3090862"/>
            <a:ext cx="191117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0000"/>
                </a:solidFill>
                <a:latin typeface="Inter ExtraBold"/>
              </a:rPr>
              <a:t>Multi-Tenancy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9625" y="3757612"/>
            <a:ext cx="2876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3333"/>
                </a:solidFill>
                <a:latin typeface="Inter"/>
              </a:rPr>
              <a:t>Implement strict rate limits and quotas to ensure fair, optimized sharing of the new GPU resources across various departments.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414587"/>
            <a:ext cx="447675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7725" y="2414587"/>
            <a:ext cx="304800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625" y="2414587"/>
            <a:ext cx="504825" cy="4000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4200" i="0" u="none">
                <a:solidFill>
                  <a:srgbClr val="000000"/>
                </a:solidFill>
                <a:latin typeface="Inter ExtraBold"/>
              </a:rPr>
              <a:t>MVP 3 | Months 7–9 — AIaaS &amp; First GPUs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38112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1025" y="581025"/>
            <a:ext cx="5190648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4200" i="0" u="none">
                <a:solidFill>
                  <a:srgbClr val="000000"/>
                </a:solidFill>
                <a:latin typeface="Inter ExtraBold"/>
              </a:rPr>
              <a:t>MVP 3 — Developer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81025" y="2028825"/>
            <a:ext cx="494347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0" y="9525"/>
            <a:ext cx="606742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543175"/>
            <a:ext cx="519064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0000"/>
                </a:solidFill>
                <a:latin typeface="Inter ExtraBold"/>
              </a:rPr>
              <a:t>Empowering Builders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2943225"/>
            <a:ext cx="494347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1025" y="3295650"/>
            <a:ext cx="49434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3333"/>
                </a:solidFill>
                <a:latin typeface="Inter"/>
              </a:rPr>
              <a:t>Platform Shift: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Transitioning from a simple chat UI to a robust API platform tailored for internal engineers.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324350"/>
            <a:ext cx="49434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3333"/>
                </a:solidFill>
                <a:latin typeface="Inter"/>
              </a:rPr>
              <a:t>Integration: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Developers can programmatically access local models to automate workflows and integrate AI into existing internal software.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657850"/>
            <a:ext cx="49434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3333"/>
                </a:solidFill>
                <a:latin typeface="Inter"/>
              </a:rPr>
              <a:t>Cost-Free Testing: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Local innovation cycles allow teams to run thousands of API calls during development without public cloud charges.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543175"/>
            <a:ext cx="5229225" cy="3771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543175"/>
            <a:ext cx="5229225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1075" y="2943225"/>
            <a:ext cx="465058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0000"/>
                </a:solidFill>
                <a:latin typeface="Inter ExtraBold"/>
              </a:rPr>
              <a:t>Advanced Customization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075" y="3381375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81800" y="2943225"/>
            <a:ext cx="465058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0000"/>
                </a:solidFill>
                <a:latin typeface="Inter ExtraBold"/>
              </a:rPr>
              <a:t>Enterprise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781800" y="3381375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6825" y="3629025"/>
            <a:ext cx="4143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Fine-Tuning: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Use the newly acquired local GPUs for parameter-efficient fine-tuning (LoRA).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825" y="4772025"/>
            <a:ext cx="4143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Proprietary Data: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Train open models specifically on the company’s proprietary codebases, specific tone, and historical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7550" y="3629025"/>
            <a:ext cx="4143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Knowledge Integration: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Connect the models to internal databases and wikis via Private RAG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7550" y="4772025"/>
            <a:ext cx="41433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00000"/>
                </a:solidFill>
                <a:latin typeface="Inter ExtraBold"/>
              </a:rPr>
              <a:t>Secure Access:</a:t>
            </a:r>
            <a:r>
              <a:rPr b="0" sz="1500" i="0" u="none">
                <a:solidFill>
                  <a:srgbClr val="333333"/>
                </a:solidFill>
                <a:latin typeface="Inter"/>
              </a:rPr>
              <a:t> Allow employees to query company knowledge securely without data leaving the firewall.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" y="362902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477202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800" y="362902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4772025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sans-serif Black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581025"/>
            <a:ext cx="11581447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4200" i="0" u="none">
                <a:solidFill>
                  <a:srgbClr val="000000"/>
                </a:solidFill>
                <a:latin typeface="Inter ExtraBold"/>
              </a:rPr>
              <a:t>MVP 4 | Months 10–12 — Specialized Workloads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202882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4657725"/>
            <a:ext cx="2536775" cy="147801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033" y="2417712"/>
            <a:ext cx="2536775" cy="1478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042" y="4657725"/>
            <a:ext cx="2536775" cy="16912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4050" y="2417712"/>
            <a:ext cx="2536775" cy="14780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1025" y="425767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7639" y="4914900"/>
            <a:ext cx="212354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00000"/>
                </a:solidFill>
                <a:latin typeface="Inter ExtraBold"/>
              </a:rPr>
              <a:t>MVP 1 (M 1-3)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238750"/>
            <a:ext cx="202242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333333"/>
                </a:solidFill>
                <a:latin typeface="Inter"/>
              </a:rPr>
              <a:t>Foundation. Zero GPU / CPU-Only setup. Ollama and WebUI deployed.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8647" y="2674887"/>
            <a:ext cx="212354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00000"/>
                </a:solidFill>
                <a:latin typeface="Inter ExtraBold"/>
              </a:rPr>
              <a:t>MVP 2 (M 4-6)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9208" y="2998737"/>
            <a:ext cx="202242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333333"/>
                </a:solidFill>
                <a:latin typeface="Inter"/>
              </a:rPr>
              <a:t>Dynamic Routing. LiteLLM proxy manages CPU vs. Cloud Bursting.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9656" y="4914900"/>
            <a:ext cx="212354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00000"/>
                </a:solidFill>
                <a:latin typeface="Inter ExtraBold"/>
              </a:rPr>
              <a:t>MVP 3 (M 7-9)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217" y="5238750"/>
            <a:ext cx="2022425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333333"/>
                </a:solidFill>
                <a:latin typeface="Inter"/>
              </a:rPr>
              <a:t>AIaaS &amp; First GPUs. Dedicated hardware procured based on proven ROI.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0665" y="2674887"/>
            <a:ext cx="212354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00000"/>
                </a:solidFill>
                <a:latin typeface="Inter ExtraBold"/>
              </a:rPr>
              <a:t>MVP 4 (M 10-12)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1225" y="2998737"/>
            <a:ext cx="202242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333333"/>
                </a:solidFill>
                <a:latin typeface="Inter"/>
              </a:rPr>
              <a:t>Scale &amp; Customization. Fine-tuning and Private RAG on company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5112" y="4162425"/>
            <a:ext cx="228600" cy="228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66121" y="4162425"/>
            <a:ext cx="228600" cy="228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97129" y="4162425"/>
            <a:ext cx="228600" cy="228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28138" y="4162425"/>
            <a:ext cx="228600" cy="228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4200" i="0" u="none">
                <a:solidFill>
                  <a:srgbClr val="000000"/>
                </a:solidFill>
                <a:latin typeface="Inter ExtraBold"/>
              </a:rPr>
              <a:t>12-Month Timeline — Month 1 → Month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138112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8225" y="2308026"/>
            <a:ext cx="11101387" cy="1038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6750" i="0" u="none">
                <a:solidFill>
                  <a:srgbClr val="000000"/>
                </a:solidFill>
                <a:latin typeface="Inter ExtraBold"/>
              </a:rPr>
              <a:t>END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8225" y="3574851"/>
            <a:ext cx="1057275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b="0" sz="2400" i="0" u="none">
                <a:solidFill>
                  <a:srgbClr val="000000"/>
                </a:solidFill>
                <a:latin typeface="Inter Light"/>
              </a:rPr>
              <a:t>A scalable, shared, cost-optimized AI Lab operating entirely on-premise, generating internal tools and IP with zero ongoing token costs.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1025" y="2521446"/>
            <a:ext cx="91916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1025" y="3306216"/>
            <a:ext cx="91916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4090987"/>
            <a:ext cx="91916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3296691"/>
            <a:ext cx="9191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1025" y="3296691"/>
            <a:ext cx="9191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4081462"/>
            <a:ext cx="9191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4081462"/>
            <a:ext cx="9191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4866233"/>
            <a:ext cx="9191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1025" y="4866233"/>
            <a:ext cx="91916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670869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76400" y="2664321"/>
            <a:ext cx="80962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3333"/>
                </a:solidFill>
                <a:latin typeface="Inter"/>
              </a:rPr>
              <a:t>https://as2.ftcdn.net/v2/jpg/21/20/06/57/1000_F_2120065732_aP705dZWg7GFq01vHOwtZwF3oCSpOuC8.jpg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6400" y="2910036"/>
            <a:ext cx="80962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3333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www.ukposters.co.uk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45564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76400" y="3449091"/>
            <a:ext cx="80962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3333"/>
                </a:solidFill>
                <a:latin typeface="Inter"/>
              </a:rPr>
              <a:t>https://www.dlrgroup.com/media/10_16206_00_N6_weblg-2140x1427.jpg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6400" y="3694807"/>
            <a:ext cx="80962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3333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www.dlrgroup.com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240410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76400" y="4233862"/>
            <a:ext cx="80962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3333"/>
                </a:solidFill>
                <a:latin typeface="Inter"/>
              </a:rPr>
              <a:t>https://i.etsystatic.com/10156036/r/il/a58a80/1012045664/il_570xN.1012045664_3779.jpg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6400" y="4479577"/>
            <a:ext cx="80962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3333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www.etsy.com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025181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76400" y="5018633"/>
            <a:ext cx="80962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3333"/>
                </a:solidFill>
                <a:latin typeface="Inter"/>
              </a:rPr>
              <a:t>https://images.stockcake.com/public/4/7/a/47a212ee-e10e-41bd-adcd-f82eef620348_large/minimal-developer-workspace-stockcake.jpg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6400" y="5264348"/>
            <a:ext cx="80962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3333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4200" i="0" u="none">
                <a:solidFill>
                  <a:srgbClr val="000000"/>
                </a:solidFill>
                <a:latin typeface="Inter ExtraBold"/>
              </a:rPr>
              <a:t>Image Sources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1025" y="1381125"/>
            <a:ext cx="11029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